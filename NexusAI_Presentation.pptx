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 am thrilled to introduce NexusAI. We are not just launching another chatbot; we are unveiling an autonomous, multi-agent executive secretary. NexusAI is designed to proactively manage your digital life—from your inbox to your calendar—so you can focus on what truly matters: deep, impactful work."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modern executive is drowning in digital noise. We lose hours to context-switching between emails, calendars, and data sheets. Current AI tools, like standard ChatGPT, are purely reactive. They wait for your prompt and, more importantly, they are walled off from your actual work environment. They can't read that urgent email or schedule a follow-up. This gap is the core problem we set out to solve."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"Enter NexusAI. We flipped the model from reactive to proactive and action-oriented. NexusAI doesn't just answer questions; it acts. It can securely read your unread emails, summarize them, analyze a sales spreadsheet, and block out time on your calendar for a meeting. It is a unified intelligence layer over your existing digital workspace."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is this for? Our primary target is the B2B market—specifically C-level executives, startup founders, and project managers whose time is highly valuable. There is a massive market gap between generic AI tools and millions of dollars spent on enterprise integrations. NexusAI captures this sweet spot by offering highly personalized, scalable automation."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bird's-eye view of our ecosystem. The user interacts through a modern web UI using text or voice. This passes through a secure OAuth layer into our 'Brain'—the LangGraph engine. From there, the system securely connects to your Google Workspace, our Vector Database for your documents, and MongoDB for session state. It is a closed, secure, and highly efficient loop."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"Diving into the AI development, the heart of NexusAI is our Multi-Agent Architecture built on LangGraph. Instead of one massive prompt, we use a graph state machine. A Supervisor Agent rapidly classifies your intent and routes it to specialized nodes—like the Gmail or RAG agent. Because it's a graph, the AI can loop, fact-check itself, and correct errors before presenting the final output to you."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enterprise users, accuracy is non-negotiable. Our Knowledge Base node uses Retrieval-Augmented Generation, or RAG. We intelligently chunk your documents, convert them into vector embeddings, and store them. When you ask a question, we perform a semantic search. Crucially, we enforce strict prompting to ensure the LLM only answers based on your documents, completely eliminating the risk of polite hallucinations."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Action Agents are where the magic happens. The Gmail agent doesn't just write emails; it reads your unread inbox, groups threads, and summarizes action items. It can draft a reply and hold it for your approval—what we call Human-in-the-Loop. Similarly, the Calendar agent parses messy natural language into precise API payloads to book your meetings flawlessly."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"Executives live in spreadsheets. Our Data Analysis agent uses a Python REPL node to actually write and execute code in the background. You upload a CSV, ask for sales trends, and it runs the math. Furthermore, if you ask about today's news or stock prices, our Web Search agent steps in, fetching real-time data to bypass the LLM's static knowledge cutoff."</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this system feel instantaneous, we implemented a Hybrid LLM Strategy. We use Groq with Llama-3 for our Supervisor node—it executes intent routing in milliseconds. However, when we need deep reasoning—like synthesizing a 20-page document or analyzing a complex email thread—we seamlessly hand the task over to Google Gemini. This balances incredible speed with profound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engineering side, our backend is powered by FastAPI. AI workloads are incredibly I/O bound—waiting for LLMs and APIs. By leveraging FastAPI's asynchronous event loops, NexusAI remains highly responsive even when juggling multiple agent tasks concurrently. The LangGraph workflows are compiled efficiently, and the entire architecture is heavily modularized for future scaling."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powerful AI is useless if the user experience is clunky. We built the frontend using React and Vite, styled with Tailwind CSS. We intentionally moved away from the standard 'chat bubble' look. Instead, we designed a holistic Workspace Paradigm—a sleek, dark-mode productivity dashboard where your chats, calendar events, and uploaded documents live in harmony."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our proudest engineering feats is our streaming pipeline. Waiting 10 seconds for an AI to reply ruins the illusion of a digital secretary. By implementing Server-Sent Events (SSE), we stream tokens from LangGraph directly to the React frontend in milliseconds. You actually see the agent 'thinking' and typing in real-time, dropping perceived latency to near zero."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NexusAI a true secretary, it needs a voice. We integrated Edge-TTS, which gives us access to incredibly high-quality, natural neural voices. Best of all, it dramatically cuts down on traditional TTS API costs. The frontend automatically caches and plays these audio streams, allowing users to listen to their daily briefings hands-free while commuting."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paramount. We do not ask users to upload JSON credential files. Instead, we built a fully compliant Web-based OAuth 2.0 flow. The user authorizes NexusAI through Google's consent screen. We request strictly scoped permissions, securely manage the refresh tokens in our backend, and ensure absolute data isolation across workspaces."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AI is expensive, but operating it doesn't have to be. We engineered NexusAI with brilliant operational hacks to keep costs near zero during bootstrapping. We use Groq's blazing fast free tier for routing, Gemini's generous limits for reasoning, Edge-TTS instead of expensive voice APIs, and local Vector databases. This gives us a massive runway to scale."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scale this? Our transition plan moves NexusAI from a powerful local tool to a global SaaS. We start with Dockerized, self-hosted deployments for strict enterprise clients. Then, we migrate to a Kubernetes-managed cloud infrastructure on AWS or GCP, implementing a multi-tenant architecture and integrating Stripe to manage scalable billing."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competition: Standard ChatGPT is reactive and isolated—it can't check your calendar. Microsoft Copilot is deeply integrated but incredibly expensive and locks you into their ecosystem. NexusAI is the agile disruptor. We offer proactive, multi-agent workflows with deep Google integration at a fraction of the enterprise cost."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ROI. If NexusAI automates just two hours of email processing and scheduling a day, that's 10 hours a week. For an executive valuing their time at $100 an hour, the system pays for itself by saving $4,000 a month. But beyond the math, the real value is mental clarity—allowing leaders to focus on strategy, not inbox zero."</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pricing strategy is designed to capture market share and monetize power users. We start with a Freemium tier to drive adoption. The Pro tier, at $49 a month, unlocks the full Google Workspace integration, proactive background agents, and voice. For large corporations, our Enterprise tier offers custom, on-premise deployments and dedicated support."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to the immediate future, our most exciting feature in development is the Proactive Background Agent. Right now, AI waits for you. Soon, NexusAI will run cron-jobs in the background, continuously monitoring your inbox. If an urgent email from an investor arrives, the AI evaluates it and pushes a real-time notification to your screen. It’s an AI that taps you on the shoulder."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expanding our ecosystem. Executives don't just use a web app; they live in Slack, Teams, and WhatsApp. Our roadmap includes omnichannel integrations. Imagine forwarding a WhatsApp voice note to NexusAI and having it automatically draft a client email and update your CRM. We are taking the intelligence of NexusAI to wherever the user already works."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complement the web workspace, we are designing a dedicated Mobile App. Built with React Native, it will feature a voice-first design. This means an executive can get their daily briefing, reply to emails, and schedule meetings entirely hands-free while driving. Native push notifications will seamlessly deliver our proactive alerts right to their pocket."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LLMs evolve, so does NexusAI. Our next major AI upgrade is Complex Multimodal Capabilities. We are integrating Vision models so you can take a picture of a whiteboard, and NexusAI will instantly convert it into calendar events and action items. We will process meeting audio recordings into perfect summaries. The agent will soon see and hear your business, not just read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NexusAI is not a toy; it is the workspace of the future. By combining LangGraph's multi-agent architecture with deep Google Workspace integrations, we are giving every professional a tireless, proactive executive assistant. Thank you for your time, and I would now love to open the floor to any technical or business questions you might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NexusAI - The Autonomous Multi-Agent Secretary</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sleek, futuristic title slide showing the NexusAI logo surrounded by interconnected nodes (representing agents) fading into a dark, modern background.]</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Ultimate Proactive Secretary: Moving beyond passive chatbots to an active, goal-oriented executive assistant.</a:t>
            </a:r>
          </a:p>
          <a:p>
            <a:pPr>
              <a:spcAft>
                <a:spcPts val="1800"/>
              </a:spcAft>
              <a:defRPr sz="2400">
                <a:solidFill>
                  <a:srgbClr val="DCDCE6"/>
                </a:solidFill>
              </a:defRPr>
            </a:pPr>
            <a:r>
              <a:t>Multi-Agent Intelligence: Powered by a network of specialized AI agents working collaboratively.</a:t>
            </a:r>
          </a:p>
          <a:p>
            <a:pPr>
              <a:spcAft>
                <a:spcPts val="1800"/>
              </a:spcAft>
              <a:defRPr sz="2400">
                <a:solidFill>
                  <a:srgbClr val="DCDCE6"/>
                </a:solidFill>
              </a:defRPr>
            </a:pPr>
            <a:r>
              <a:t>Seamless Integration: Deep hooks into Google Workspace (Gmail, Calendar) and enterprise data.</a:t>
            </a:r>
          </a:p>
          <a:p>
            <a:pPr>
              <a:spcAft>
                <a:spcPts val="1800"/>
              </a:spcAft>
              <a:defRPr sz="2400">
                <a:solidFill>
                  <a:srgbClr val="DCDCE6"/>
                </a:solidFill>
              </a:defRPr>
            </a:pPr>
            <a:r>
              <a:t>Mission: To automate digital bureaucracy and reclaim hours of deep work for professionals.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The Core Problem</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split-screen graphic. On the left, a stressed executive overwhelmed by a chaotic swarm of emails, calendars, and spreadsheets. On the right, a traditional chatbot saying "I don't have access to your email."]</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Executive Burnout: Professionals spend up to 40% of their day managing emails and scheduling.</a:t>
            </a:r>
          </a:p>
          <a:p>
            <a:pPr>
              <a:spcAft>
                <a:spcPts val="1800"/>
              </a:spcAft>
              <a:defRPr sz="2400">
                <a:solidFill>
                  <a:srgbClr val="DCDCE6"/>
                </a:solidFill>
              </a:defRPr>
            </a:pPr>
            <a:r>
              <a:t>Context-Switching Tax: Jumping between apps destroys focus and reduces cognitive capacity.</a:t>
            </a:r>
          </a:p>
          <a:p>
            <a:pPr>
              <a:spcAft>
                <a:spcPts val="1800"/>
              </a:spcAft>
              <a:defRPr sz="2400">
                <a:solidFill>
                  <a:srgbClr val="DCDCE6"/>
                </a:solidFill>
              </a:defRPr>
            </a:pPr>
            <a:r>
              <a:t>Reactive vs. Proactive: Traditional AI tools wait for your command and lack context of your daily operations.</a:t>
            </a:r>
          </a:p>
          <a:p>
            <a:pPr>
              <a:spcAft>
                <a:spcPts val="1800"/>
              </a:spcAft>
              <a:defRPr sz="2400">
                <a:solidFill>
                  <a:srgbClr val="DCDCE6"/>
                </a:solidFill>
              </a:defRPr>
            </a:pPr>
            <a:r>
              <a:t>Data Silos: Chatbots cannot execute actions across your private workspace seamlessly.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The NexusAI Solution</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circular workflow diagram showing NexusAI at the center, autonomously reading an email, generating a summary, analyzing a CSV, and placing an event on a calendar.]</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Action-Oriented AI: Executes real-world tasks instead of just generating text.</a:t>
            </a:r>
          </a:p>
          <a:p>
            <a:pPr>
              <a:spcAft>
                <a:spcPts val="1800"/>
              </a:spcAft>
              <a:defRPr sz="2400">
                <a:solidFill>
                  <a:srgbClr val="DCDCE6"/>
                </a:solidFill>
              </a:defRPr>
            </a:pPr>
            <a:r>
              <a:t>Intelligent Routing: Automatically determines the right tool for the job without micromanagement.</a:t>
            </a:r>
          </a:p>
          <a:p>
            <a:pPr>
              <a:spcAft>
                <a:spcPts val="1800"/>
              </a:spcAft>
              <a:defRPr sz="2400">
                <a:solidFill>
                  <a:srgbClr val="DCDCE6"/>
                </a:solidFill>
              </a:defRPr>
            </a:pPr>
            <a:r>
              <a:t>Contextual Awareness: Reads unread emails, checks schedule availability, and queries custom knowledge bases.</a:t>
            </a:r>
          </a:p>
          <a:p>
            <a:pPr>
              <a:spcAft>
                <a:spcPts val="1800"/>
              </a:spcAft>
              <a:defRPr sz="2400">
                <a:solidFill>
                  <a:srgbClr val="DCDCE6"/>
                </a:solidFill>
              </a:defRPr>
            </a:pPr>
            <a:r>
              <a:t>Unified Workspace: A single interface where all your digital operations converge.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Target Audience &amp; Market</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An infographic showing a pyramid or pie chart of the B2B market: C-Level Executives at the top, followed by Project Managers, and Startup Founders.]</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Primary Users: C-level executives, founders, and senior managers.</a:t>
            </a:r>
          </a:p>
          <a:p>
            <a:pPr>
              <a:spcAft>
                <a:spcPts val="1800"/>
              </a:spcAft>
              <a:defRPr sz="2400">
                <a:solidFill>
                  <a:srgbClr val="DCDCE6"/>
                </a:solidFill>
              </a:defRPr>
            </a:pPr>
            <a:r>
              <a:t>B2B Focus: Designed for enterprises and startups looking to optimize operational efficiency.</a:t>
            </a:r>
          </a:p>
          <a:p>
            <a:pPr>
              <a:spcAft>
                <a:spcPts val="1800"/>
              </a:spcAft>
              <a:defRPr sz="2400">
                <a:solidFill>
                  <a:srgbClr val="DCDCE6"/>
                </a:solidFill>
              </a:defRPr>
            </a:pPr>
            <a:r>
              <a:t>The Gap: Targeting the middle ground between generic AI chat and hyper-expensive, rigid enterprise ERPs.</a:t>
            </a:r>
          </a:p>
          <a:p>
            <a:pPr>
              <a:spcAft>
                <a:spcPts val="1800"/>
              </a:spcAft>
              <a:defRPr sz="2400">
                <a:solidFill>
                  <a:srgbClr val="DCDCE6"/>
                </a:solidFill>
              </a:defRPr>
            </a:pPr>
            <a:r>
              <a:t>Scalable Market: Rapidly expanding demand for personalized AI automation in the modern workforce.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High-Level Ecosystem</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high-level architecture map showing the User at the top, interacting via Web/Voice, passing through a Secure Auth Layer, into the NexusAI LangGraph Engine, which connects to external APIs (Google Workspace, Qdrant, Web).]</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Secure Entry Point: Robust web-based OAuth 2.0 authentication.</a:t>
            </a:r>
          </a:p>
          <a:p>
            <a:pPr>
              <a:spcAft>
                <a:spcPts val="1800"/>
              </a:spcAft>
              <a:defRPr sz="2400">
                <a:solidFill>
                  <a:srgbClr val="DCDCE6"/>
                </a:solidFill>
              </a:defRPr>
            </a:pPr>
            <a:r>
              <a:t>The Brain (LangGraph): The central orchestrator routing tasks.</a:t>
            </a:r>
          </a:p>
          <a:p>
            <a:pPr>
              <a:spcAft>
                <a:spcPts val="1800"/>
              </a:spcAft>
              <a:defRPr sz="2400">
                <a:solidFill>
                  <a:srgbClr val="DCDCE6"/>
                </a:solidFill>
              </a:defRPr>
            </a:pPr>
            <a:r>
              <a:t>Data Layer: MongoDB for state/sessions, Qdrant for vector embeddings.</a:t>
            </a:r>
          </a:p>
          <a:p>
            <a:pPr>
              <a:spcAft>
                <a:spcPts val="1800"/>
              </a:spcAft>
              <a:defRPr sz="2400">
                <a:solidFill>
                  <a:srgbClr val="DCDCE6"/>
                </a:solidFill>
              </a:defRPr>
            </a:pPr>
            <a:r>
              <a:t>Integration Layer: Secure, scoped access to Google APIs and web search.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Multi-Agent Architecture</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LangGraph node diagram showing a Supervisor Agent routing queries to specific nodes (Gmail Agent, Calendar Agent, RAG Agent, REPL Agent).]</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LangGraph Foundation: Utilizing graph-based state machines for reliable agentic loops.</a:t>
            </a:r>
          </a:p>
          <a:p>
            <a:pPr>
              <a:spcAft>
                <a:spcPts val="1800"/>
              </a:spcAft>
              <a:defRPr sz="2400">
                <a:solidFill>
                  <a:srgbClr val="DCDCE6"/>
                </a:solidFill>
              </a:defRPr>
            </a:pPr>
            <a:r>
              <a:t>AgentState Management: Maintaining conversation history, intermediate steps, and context seamlessly.</a:t>
            </a:r>
          </a:p>
          <a:p>
            <a:pPr>
              <a:spcAft>
                <a:spcPts val="1800"/>
              </a:spcAft>
              <a:defRPr sz="2400">
                <a:solidFill>
                  <a:srgbClr val="DCDCE6"/>
                </a:solidFill>
              </a:defRPr>
            </a:pPr>
            <a:r>
              <a:t>The Supervisor/Classifier: A high-speed LLM that analyzes intent and routes to the correct specialized node.</a:t>
            </a:r>
          </a:p>
          <a:p>
            <a:pPr>
              <a:spcAft>
                <a:spcPts val="1800"/>
              </a:spcAft>
              <a:defRPr sz="2400">
                <a:solidFill>
                  <a:srgbClr val="DCDCE6"/>
                </a:solidFill>
              </a:defRPr>
            </a:pPr>
            <a:r>
              <a:t>Cyclic Execution: Ability to loop, correct errors, and verify data before finalizing a response.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RAG &amp; Knowledge Base Node</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pipeline diagram showing Document Ingestion -&gt; Chunking -&gt; Embedding Model -&gt; pgvector/Qdrant DB -&gt; Semantic Search -&gt; Grounded LLM Response.]</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Semantic Search Pipeline: Extracting meaning, not just keywords, from uploaded PDFs and texts.</a:t>
            </a:r>
          </a:p>
          <a:p>
            <a:pPr>
              <a:spcAft>
                <a:spcPts val="1800"/>
              </a:spcAft>
              <a:defRPr sz="2400">
                <a:solidFill>
                  <a:srgbClr val="DCDCE6"/>
                </a:solidFill>
              </a:defRPr>
            </a:pPr>
            <a:r>
              <a:t>Smart Chunking: Optimized text splitting to maintain context without losing detail.</a:t>
            </a:r>
          </a:p>
          <a:p>
            <a:pPr>
              <a:spcAft>
                <a:spcPts val="1800"/>
              </a:spcAft>
              <a:defRPr sz="2400">
                <a:solidFill>
                  <a:srgbClr val="DCDCE6"/>
                </a:solidFill>
              </a:defRPr>
            </a:pPr>
            <a:r>
              <a:t>Vector Storage: Utilizing high-performance vector databases (pgvector/Qdrant) for instant retrieval.</a:t>
            </a:r>
          </a:p>
          <a:p>
            <a:pPr>
              <a:spcAft>
                <a:spcPts val="1800"/>
              </a:spcAft>
              <a:defRPr sz="2400">
                <a:solidFill>
                  <a:srgbClr val="DCDCE6"/>
                </a:solidFill>
              </a:defRPr>
            </a:pPr>
            <a:r>
              <a:t>Zero Hallucination Goal: Forcing the LLM to ground its answers purely in retrieved context to prevent 'polite hallucinations'.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Action Agents (Gmail &amp; Calendar)</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sequence diagram or code snippet showing the Supervisor passing a payload to the Gmail API, parsing the JSON response, and drafting a reply.]</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Read &amp; Summarize: Autonomously fetching unread threads and synthesizing key action items.</a:t>
            </a:r>
          </a:p>
          <a:p>
            <a:pPr>
              <a:spcAft>
                <a:spcPts val="1800"/>
              </a:spcAft>
              <a:defRPr sz="2400">
                <a:solidFill>
                  <a:srgbClr val="DCDCE6"/>
                </a:solidFill>
              </a:defRPr>
            </a:pPr>
            <a:r>
              <a:t>Drafting &amp; Sending: Composing context-aware replies ready for user approval (Human-in-the-Loop).</a:t>
            </a:r>
          </a:p>
          <a:p>
            <a:pPr>
              <a:spcAft>
                <a:spcPts val="1800"/>
              </a:spcAft>
              <a:defRPr sz="2400">
                <a:solidFill>
                  <a:srgbClr val="DCDCE6"/>
                </a:solidFill>
              </a:defRPr>
            </a:pPr>
            <a:r>
              <a:t>Calendar Management: Parsing natural language ("Schedule a sync next Tuesday") into precise API payloads.</a:t>
            </a:r>
          </a:p>
          <a:p>
            <a:pPr>
              <a:spcAft>
                <a:spcPts val="1800"/>
              </a:spcAft>
              <a:defRPr sz="2400">
                <a:solidFill>
                  <a:srgbClr val="DCDCE6"/>
                </a:solidFill>
              </a:defRPr>
            </a:pPr>
            <a:r>
              <a:t>Dynamic Execution: Handling API rate limits and token expirations gracefully.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Data Analysis &amp; Web Search</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screenshot of a generated chart alongside a terminal icon representing the Python REPL, and a globe icon for Web Search.]</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Python REPL Node: Safely executing generated Python code to analyze CSVs and generate statistical insights.</a:t>
            </a:r>
          </a:p>
          <a:p>
            <a:pPr>
              <a:spcAft>
                <a:spcPts val="1800"/>
              </a:spcAft>
              <a:defRPr sz="2400">
                <a:solidFill>
                  <a:srgbClr val="DCDCE6"/>
                </a:solidFill>
              </a:defRPr>
            </a:pPr>
            <a:r>
              <a:t>Dynamic Charting: Turning raw spreadsheets into actionable data visualizations automatically.</a:t>
            </a:r>
          </a:p>
          <a:p>
            <a:pPr>
              <a:spcAft>
                <a:spcPts val="1800"/>
              </a:spcAft>
              <a:defRPr sz="2400">
                <a:solidFill>
                  <a:srgbClr val="DCDCE6"/>
                </a:solidFill>
              </a:defRPr>
            </a:pPr>
            <a:r>
              <a:t>Web Search Fallback: Utilizing Google Custom Search / DuckDuckGo for real-time queries.</a:t>
            </a:r>
          </a:p>
          <a:p>
            <a:pPr>
              <a:spcAft>
                <a:spcPts val="1800"/>
              </a:spcAft>
              <a:defRPr sz="2400">
                <a:solidFill>
                  <a:srgbClr val="DCDCE6"/>
                </a:solidFill>
              </a:defRPr>
            </a:pPr>
            <a:r>
              <a:t>Fact-Checking: Cross-referencing current events that bypass the static training data of the LLM.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Hybrid LLM Strategy</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comparison table or dual-processor graphic showing Groq (Lightning fast) vs. Gemini (Heavy Reasoning).]</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Groq &amp; Llama-3: Used for the Supervisor Node. Ultra-fast, low-latency routing and classification.</a:t>
            </a:r>
          </a:p>
          <a:p>
            <a:pPr>
              <a:spcAft>
                <a:spcPts val="1800"/>
              </a:spcAft>
              <a:defRPr sz="2400">
                <a:solidFill>
                  <a:srgbClr val="DCDCE6"/>
                </a:solidFill>
              </a:defRPr>
            </a:pPr>
            <a:r>
              <a:t>Google Gemini Pro: Used for deep reasoning, RAG synthesis, and complex context management.</a:t>
            </a:r>
          </a:p>
          <a:p>
            <a:pPr>
              <a:spcAft>
                <a:spcPts val="1800"/>
              </a:spcAft>
              <a:defRPr sz="2400">
                <a:solidFill>
                  <a:srgbClr val="DCDCE6"/>
                </a:solidFill>
              </a:defRPr>
            </a:pPr>
            <a:r>
              <a:t>Cost vs. Performance: Balancing expensive, heavy reasoning with cheap, fast classification.</a:t>
            </a:r>
          </a:p>
          <a:p>
            <a:pPr>
              <a:spcAft>
                <a:spcPts val="1800"/>
              </a:spcAft>
              <a:defRPr sz="2400">
                <a:solidFill>
                  <a:srgbClr val="DCDCE6"/>
                </a:solidFill>
              </a:defRPr>
            </a:pPr>
            <a:r>
              <a:t>Resilience: Fallback mechanisms if one provider experiences downtime.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Backend Infrastructure</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An architecture diagram highlighting FastAPI, async/await event loops, and LangGraph integration.]</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FastAPI Core: High-performance, asynchronous Python backend tailored for AI workloads.</a:t>
            </a:r>
          </a:p>
          <a:p>
            <a:pPr>
              <a:spcAft>
                <a:spcPts val="1800"/>
              </a:spcAft>
              <a:defRPr sz="2400">
                <a:solidFill>
                  <a:srgbClr val="DCDCE6"/>
                </a:solidFill>
              </a:defRPr>
            </a:pPr>
            <a:r>
              <a:t>Async Operations: Non-blocking I/O ensures the server handles multiple agents and API calls concurrently.</a:t>
            </a:r>
          </a:p>
          <a:p>
            <a:pPr>
              <a:spcAft>
                <a:spcPts val="1800"/>
              </a:spcAft>
              <a:defRPr sz="2400">
                <a:solidFill>
                  <a:srgbClr val="DCDCE6"/>
                </a:solidFill>
              </a:defRPr>
            </a:pPr>
            <a:r>
              <a:t>Graph Compilation: Pre-compiling the LangGraph workflow for optimized execution paths.</a:t>
            </a:r>
          </a:p>
          <a:p>
            <a:pPr>
              <a:spcAft>
                <a:spcPts val="1800"/>
              </a:spcAft>
              <a:defRPr sz="2400">
                <a:solidFill>
                  <a:srgbClr val="DCDCE6"/>
                </a:solidFill>
              </a:defRPr>
            </a:pPr>
            <a:r>
              <a:t>Modularity: Service-oriented design separating routes, controllers, and LLM stores.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Frontend Experience</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stunning UI mockup of the NexusAI Workspace, highlighting a dark-mode theme, chat interface, and interactive sidebars.]</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Modern Tech Stack: Built with React and Vite for blazing fast hot-module replacement and load times.</a:t>
            </a:r>
          </a:p>
          <a:p>
            <a:pPr>
              <a:spcAft>
                <a:spcPts val="1800"/>
              </a:spcAft>
              <a:defRPr sz="2400">
                <a:solidFill>
                  <a:srgbClr val="DCDCE6"/>
                </a:solidFill>
              </a:defRPr>
            </a:pPr>
            <a:r>
              <a:t>Tailwind CSS: Highly custom, responsive, and sleek design system (Dark mode optimized).</a:t>
            </a:r>
          </a:p>
          <a:p>
            <a:pPr>
              <a:spcAft>
                <a:spcPts val="1800"/>
              </a:spcAft>
              <a:defRPr sz="2400">
                <a:solidFill>
                  <a:srgbClr val="DCDCE6"/>
                </a:solidFill>
              </a:defRPr>
            </a:pPr>
            <a:r>
              <a:t>Workspace Paradigm: Moving away from a simple 'chat window' to a full productivity dashboard.</a:t>
            </a:r>
          </a:p>
          <a:p>
            <a:pPr>
              <a:spcAft>
                <a:spcPts val="1800"/>
              </a:spcAft>
              <a:defRPr sz="2400">
                <a:solidFill>
                  <a:srgbClr val="DCDCE6"/>
                </a:solidFill>
              </a:defRPr>
            </a:pPr>
            <a:r>
              <a:t>State Management: Seamlessly handling user sessions, chat history, and uploaded assets.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Real-Time Streaming (SSE)</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sequence diagram contrasting a standard HTTP Request (waiting 10 seconds) vs. Server-Sent Events (SSE) streaming tokens one by one.]</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Zero Perceived Latency: Streaming tokens instantly to the UI just like ChatGPT.</a:t>
            </a:r>
          </a:p>
          <a:p>
            <a:pPr>
              <a:spcAft>
                <a:spcPts val="1800"/>
              </a:spcAft>
              <a:defRPr sz="2400">
                <a:solidFill>
                  <a:srgbClr val="DCDCE6"/>
                </a:solidFill>
              </a:defRPr>
            </a:pPr>
            <a:r>
              <a:t>Server-Sent Events (SSE): Lightweight, unidirectional data flow perfect for text generation.</a:t>
            </a:r>
          </a:p>
          <a:p>
            <a:pPr>
              <a:spcAft>
                <a:spcPts val="1800"/>
              </a:spcAft>
              <a:defRPr sz="2400">
                <a:solidFill>
                  <a:srgbClr val="DCDCE6"/>
                </a:solidFill>
              </a:defRPr>
            </a:pPr>
            <a:r>
              <a:t>LangGraph Integration: Tapping into the graph's event stream to output intermediate agent thoughts.</a:t>
            </a:r>
          </a:p>
          <a:p>
            <a:pPr>
              <a:spcAft>
                <a:spcPts val="1800"/>
              </a:spcAft>
              <a:defRPr sz="2400">
                <a:solidFill>
                  <a:srgbClr val="DCDCE6"/>
                </a:solidFill>
              </a:defRPr>
            </a:pPr>
            <a:r>
              <a:t>Enhanced UX: Users see the AI 'thinking' and 'typing' in real-time, building trust.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Voice Synthesis (Edge-TTS)</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An audio wave graphic transforming text into spoken words, featuring the Edge-TTS logo.]</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Neural Voice Synthesis: High-fidelity, natural-sounding speech generation.</a:t>
            </a:r>
          </a:p>
          <a:p>
            <a:pPr>
              <a:spcAft>
                <a:spcPts val="1800"/>
              </a:spcAft>
              <a:defRPr sz="2400">
                <a:solidFill>
                  <a:srgbClr val="DCDCE6"/>
                </a:solidFill>
              </a:defRPr>
            </a:pPr>
            <a:r>
              <a:t>Edge-TTS Integration: Leveraging Microsoft's Edge TTS API for premium voices without high API costs.</a:t>
            </a:r>
          </a:p>
          <a:p>
            <a:pPr>
              <a:spcAft>
                <a:spcPts val="1800"/>
              </a:spcAft>
              <a:defRPr sz="2400">
                <a:solidFill>
                  <a:srgbClr val="DCDCE6"/>
                </a:solidFill>
              </a:defRPr>
            </a:pPr>
            <a:r>
              <a:t>Seamless UI Integration: Audio plays directly in the browser upon message completion.</a:t>
            </a:r>
          </a:p>
          <a:p>
            <a:pPr>
              <a:spcAft>
                <a:spcPts val="1800"/>
              </a:spcAft>
              <a:defRPr sz="2400">
                <a:solidFill>
                  <a:srgbClr val="DCDCE6"/>
                </a:solidFill>
              </a:defRPr>
            </a:pPr>
            <a:r>
              <a:t>Accessibility &amp; Multitasking: Allowing executives to listen to briefings while commuting or working.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Security &amp; OAuth 2.0</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flow chart showing the OAuth 2.0 Dance: User clicks login -&gt; Google Consent Screen -&gt; Auth Code -&gt; Backend -&gt; Access/Refresh Tokens stored securely.]</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Enterprise-Grade Security: No hardcoded credentials; fully compliant Web-based OAuth 2.0 flow.</a:t>
            </a:r>
          </a:p>
          <a:p>
            <a:pPr>
              <a:spcAft>
                <a:spcPts val="1800"/>
              </a:spcAft>
              <a:defRPr sz="2400">
                <a:solidFill>
                  <a:srgbClr val="DCDCE6"/>
                </a:solidFill>
              </a:defRPr>
            </a:pPr>
            <a:r>
              <a:t>Scoped Access: Requesting only the exact permissions needed (Gmail Read/Send, Calendar).</a:t>
            </a:r>
          </a:p>
          <a:p>
            <a:pPr>
              <a:spcAft>
                <a:spcPts val="1800"/>
              </a:spcAft>
              <a:defRPr sz="2400">
                <a:solidFill>
                  <a:srgbClr val="DCDCE6"/>
                </a:solidFill>
              </a:defRPr>
            </a:pPr>
            <a:r>
              <a:t>Token Management: Secure storage and automatic refresh of access tokens.</a:t>
            </a:r>
          </a:p>
          <a:p>
            <a:pPr>
              <a:spcAft>
                <a:spcPts val="1800"/>
              </a:spcAft>
              <a:defRPr sz="2400">
                <a:solidFill>
                  <a:srgbClr val="DCDCE6"/>
                </a:solidFill>
              </a:defRPr>
            </a:pPr>
            <a:r>
              <a:t>Data Isolation: Ensuring multi-tenant architecture keeps every user's workspace strictly private.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Zero-Budget Operational Hacks</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financial chart showing a traditional high cost line crossed out, replaced by a flat, near-zero cost line representing our optimized stack.]</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Open-Source Leveraging: Utilizing Llama-3 via Groq for hyper-fast, free-tier routing.</a:t>
            </a:r>
          </a:p>
          <a:p>
            <a:pPr>
              <a:spcAft>
                <a:spcPts val="1800"/>
              </a:spcAft>
              <a:defRPr sz="2400">
                <a:solidFill>
                  <a:srgbClr val="DCDCE6"/>
                </a:solidFill>
              </a:defRPr>
            </a:pPr>
            <a:r>
              <a:t>Generous Free Tiers: Maximizing Gemini's generous developer tiers for heavy reasoning.</a:t>
            </a:r>
          </a:p>
          <a:p>
            <a:pPr>
              <a:spcAft>
                <a:spcPts val="1800"/>
              </a:spcAft>
              <a:defRPr sz="2400">
                <a:solidFill>
                  <a:srgbClr val="DCDCE6"/>
                </a:solidFill>
              </a:defRPr>
            </a:pPr>
            <a:r>
              <a:t>Edge-TTS: Bypassing expensive services like ElevenLabs by tapping into Edge's free neural voices.</a:t>
            </a:r>
          </a:p>
          <a:p>
            <a:pPr>
              <a:spcAft>
                <a:spcPts val="1800"/>
              </a:spcAft>
              <a:defRPr sz="2400">
                <a:solidFill>
                  <a:srgbClr val="DCDCE6"/>
                </a:solidFill>
              </a:defRPr>
            </a:pPr>
            <a:r>
              <a:t>Local Vector DBs: Running Qdrant locally/in-cluster instead of paying premium cloud vector DB fees.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SaaS Transition Plan</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roadmap graphic moving from "Local Deployment" -&gt; "Cloud Infrastructure (AWS/GCP)" -&gt; "Multi-Tenant SaaS".]</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Phase 1: Local &amp; Self-Hosted: Perfect for privacy-conscious enterprise clients.</a:t>
            </a:r>
          </a:p>
          <a:p>
            <a:pPr>
              <a:spcAft>
                <a:spcPts val="1800"/>
              </a:spcAft>
              <a:defRPr sz="2400">
                <a:solidFill>
                  <a:srgbClr val="DCDCE6"/>
                </a:solidFill>
              </a:defRPr>
            </a:pPr>
            <a:r>
              <a:t>Phase 2: Cloud Infrastructure: Dockerizing the stack and deploying via Kubernetes on AWS/GCP.</a:t>
            </a:r>
          </a:p>
          <a:p>
            <a:pPr>
              <a:spcAft>
                <a:spcPts val="1800"/>
              </a:spcAft>
              <a:defRPr sz="2400">
                <a:solidFill>
                  <a:srgbClr val="DCDCE6"/>
                </a:solidFill>
              </a:defRPr>
            </a:pPr>
            <a:r>
              <a:t>Phase 3: Multi-Tenant Architecture: Single backend serving thousands of isolated workspaces.</a:t>
            </a:r>
          </a:p>
          <a:p>
            <a:pPr>
              <a:spcAft>
                <a:spcPts val="1800"/>
              </a:spcAft>
              <a:defRPr sz="2400">
                <a:solidFill>
                  <a:srgbClr val="DCDCE6"/>
                </a:solidFill>
              </a:defRPr>
            </a:pPr>
            <a:r>
              <a:t>Phase 4: Billing Integration: Hooking up Stripe for automated subscription management.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Competitive Analysis</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classic feature-comparison matrix (NexusAI vs. ChatGPT vs. Microsoft Copilot).]</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NexusAI: Proactive, Highly Custom, Multi-Agent, Affordable.</a:t>
            </a:r>
          </a:p>
          <a:p>
            <a:pPr>
              <a:spcAft>
                <a:spcPts val="1800"/>
              </a:spcAft>
              <a:defRPr sz="2400">
                <a:solidFill>
                  <a:srgbClr val="DCDCE6"/>
                </a:solidFill>
              </a:defRPr>
            </a:pPr>
            <a:r>
              <a:t>Standard ChatGPT: Reactive, Siloed, Generic, No native workspace actions.</a:t>
            </a:r>
          </a:p>
          <a:p>
            <a:pPr>
              <a:spcAft>
                <a:spcPts val="1800"/>
              </a:spcAft>
              <a:defRPr sz="2400">
                <a:solidFill>
                  <a:srgbClr val="DCDCE6"/>
                </a:solidFill>
              </a:defRPr>
            </a:pPr>
            <a:r>
              <a:t>Microsoft Copilot: Deep integration, but highly rigid, extremely expensive, and locks you into the MS ecosystem.</a:t>
            </a:r>
          </a:p>
          <a:p>
            <a:pPr>
              <a:spcAft>
                <a:spcPts val="1800"/>
              </a:spcAft>
              <a:defRPr sz="2400">
                <a:solidFill>
                  <a:srgbClr val="DCDCE6"/>
                </a:solidFill>
              </a:defRPr>
            </a:pPr>
            <a:r>
              <a:t>Our Edge: Agile multi-agent workflows tailored specifically for independent executives and startups.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ROI &amp; Value Proposition</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bold infographic showing "10 Hours Saved / Week" = "$X,XXX Saved / Month".]</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Time is Money: Automating 2 hours of email and scheduling per day = 10 hours a week.</a:t>
            </a:r>
          </a:p>
          <a:p>
            <a:pPr>
              <a:spcAft>
                <a:spcPts val="1800"/>
              </a:spcAft>
              <a:defRPr sz="2400">
                <a:solidFill>
                  <a:srgbClr val="DCDCE6"/>
                </a:solidFill>
              </a:defRPr>
            </a:pPr>
            <a:r>
              <a:t>Executive Valuation: At a $100/hr executive rate, NexusAI saves $4,000 a month per user.</a:t>
            </a:r>
          </a:p>
          <a:p>
            <a:pPr>
              <a:spcAft>
                <a:spcPts val="1800"/>
              </a:spcAft>
              <a:defRPr sz="2400">
                <a:solidFill>
                  <a:srgbClr val="DCDCE6"/>
                </a:solidFill>
              </a:defRPr>
            </a:pPr>
            <a:r>
              <a:t>Error Reduction: Automated scheduling prevents double-booking and missed follow-ups.</a:t>
            </a:r>
          </a:p>
          <a:p>
            <a:pPr>
              <a:spcAft>
                <a:spcPts val="1800"/>
              </a:spcAft>
              <a:defRPr sz="2400">
                <a:solidFill>
                  <a:srgbClr val="DCDCE6"/>
                </a:solidFill>
              </a:defRPr>
            </a:pPr>
            <a:r>
              <a:t>Mental Clarity: Removing digital clutter directly increases high-value strategic output.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Pricing Tiers</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classic SaaS pricing table: Freemium (Basic), Pro (Executive), Enterprise (Custom).]</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Starter / Freemium: Basic chat, limited RAG uploads, standard models.</a:t>
            </a:r>
          </a:p>
          <a:p>
            <a:pPr>
              <a:spcAft>
                <a:spcPts val="1800"/>
              </a:spcAft>
              <a:defRPr sz="2400">
                <a:solidFill>
                  <a:srgbClr val="DCDCE6"/>
                </a:solidFill>
              </a:defRPr>
            </a:pPr>
            <a:r>
              <a:t>Pro ($49/mo): Full Google integration, proactive background agent, Voice TTS, premium models.</a:t>
            </a:r>
          </a:p>
          <a:p>
            <a:pPr>
              <a:spcAft>
                <a:spcPts val="1800"/>
              </a:spcAft>
              <a:defRPr sz="2400">
                <a:solidFill>
                  <a:srgbClr val="DCDCE6"/>
                </a:solidFill>
              </a:defRPr>
            </a:pPr>
            <a:r>
              <a:t>Enterprise (Custom): On-premise deployment, custom integrations (Salesforce/Slack), dedicated support.</a:t>
            </a:r>
          </a:p>
          <a:p>
            <a:pPr>
              <a:spcAft>
                <a:spcPts val="1800"/>
              </a:spcAft>
              <a:defRPr sz="2400">
                <a:solidFill>
                  <a:srgbClr val="DCDCE6"/>
                </a:solidFill>
              </a:defRPr>
            </a:pPr>
            <a:r>
              <a:t>Upsell Path: Seamlessly moving power users from Starter to Pro as their reliance on the agent grows.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Proactive Background Agent</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technical flow showing a Cron Job -&gt; Mail API -&gt; LLM Evaluator -&gt; WebSocket Push Notification.]</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True Autonomy: Moving from "user-prompted" to "system-initiated" actions.</a:t>
            </a:r>
          </a:p>
          <a:p>
            <a:pPr>
              <a:spcAft>
                <a:spcPts val="1800"/>
              </a:spcAft>
              <a:defRPr sz="2400">
                <a:solidFill>
                  <a:srgbClr val="DCDCE6"/>
                </a:solidFill>
              </a:defRPr>
            </a:pPr>
            <a:r>
              <a:t>Inbox Polling: Background schedulers checking for high-priority emails every few minutes.</a:t>
            </a:r>
          </a:p>
          <a:p>
            <a:pPr>
              <a:spcAft>
                <a:spcPts val="1800"/>
              </a:spcAft>
              <a:defRPr sz="2400">
                <a:solidFill>
                  <a:srgbClr val="DCDCE6"/>
                </a:solidFill>
              </a:defRPr>
            </a:pPr>
            <a:r>
              <a:t>Smart Alerts: Using the LLM to filter out spam and only alert the user via SSE for urgent matters.</a:t>
            </a:r>
          </a:p>
          <a:p>
            <a:pPr>
              <a:spcAft>
                <a:spcPts val="1800"/>
              </a:spcAft>
              <a:defRPr sz="2400">
                <a:solidFill>
                  <a:srgbClr val="DCDCE6"/>
                </a:solidFill>
              </a:defRPr>
            </a:pPr>
            <a:r>
              <a:t>The Goal: An AI that taps you on the shoulder when something needs your attention.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Ecosystem Expansion</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Logos of Slack, Microsoft Teams, WhatsApp, and Notion connected to the NexusAI core.]</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Omnichannel Presence: Meeting the user wherever they work.</a:t>
            </a:r>
          </a:p>
          <a:p>
            <a:pPr>
              <a:spcAft>
                <a:spcPts val="1800"/>
              </a:spcAft>
              <a:defRPr sz="2400">
                <a:solidFill>
                  <a:srgbClr val="DCDCE6"/>
                </a:solidFill>
              </a:defRPr>
            </a:pPr>
            <a:r>
              <a:t>Slack &amp; Teams Bots: Integrating NexusAI directly into enterprise communication channels.</a:t>
            </a:r>
          </a:p>
          <a:p>
            <a:pPr>
              <a:spcAft>
                <a:spcPts val="1800"/>
              </a:spcAft>
              <a:defRPr sz="2400">
                <a:solidFill>
                  <a:srgbClr val="DCDCE6"/>
                </a:solidFill>
              </a:defRPr>
            </a:pPr>
            <a:r>
              <a:t>WhatsApp Integration: Managing calendar and emails via voice notes on the go.</a:t>
            </a:r>
          </a:p>
          <a:p>
            <a:pPr>
              <a:spcAft>
                <a:spcPts val="1800"/>
              </a:spcAft>
              <a:defRPr sz="2400">
                <a:solidFill>
                  <a:srgbClr val="DCDCE6"/>
                </a:solidFill>
              </a:defRPr>
            </a:pPr>
            <a:r>
              <a:t>CRM Connections: Hooking into Salesforce or HubSpot for sales teams.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Advanced Mobile App</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sleek mockup of a NexusAI mobile app on an iPhone, featuring a large microphone button and a daily briefing widget.]</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Cross-Platform: Building with React Native or Flutter for iOS and Android.</a:t>
            </a:r>
          </a:p>
          <a:p>
            <a:pPr>
              <a:spcAft>
                <a:spcPts val="1800"/>
              </a:spcAft>
              <a:defRPr sz="2400">
                <a:solidFill>
                  <a:srgbClr val="DCDCE6"/>
                </a:solidFill>
              </a:defRPr>
            </a:pPr>
            <a:r>
              <a:t>Voice-First Design: Optimized for commuting, allowing full voice control of the AI.</a:t>
            </a:r>
          </a:p>
          <a:p>
            <a:pPr>
              <a:spcAft>
                <a:spcPts val="1800"/>
              </a:spcAft>
              <a:defRPr sz="2400">
                <a:solidFill>
                  <a:srgbClr val="DCDCE6"/>
                </a:solidFill>
              </a:defRPr>
            </a:pPr>
            <a:r>
              <a:t>Push Notifications: Native mobile alerts for the proactive background agent.</a:t>
            </a:r>
          </a:p>
          <a:p>
            <a:pPr>
              <a:spcAft>
                <a:spcPts val="1800"/>
              </a:spcAft>
              <a:defRPr sz="2400">
                <a:solidFill>
                  <a:srgbClr val="DCDCE6"/>
                </a:solidFill>
              </a:defRPr>
            </a:pPr>
            <a:r>
              <a:t>Offline Capabilities: Caching daily briefings for offline access.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Complex Multimodal Capabilities</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An illustration of a user uploading a photo of a whiteboard diagram, with the AI converting it into a structured task list.]</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Vision Integration: Upgrading the RAG pipeline to understand charts, graphs, and images via GPT-4o/Gemini Pro Vision.</a:t>
            </a:r>
          </a:p>
          <a:p>
            <a:pPr>
              <a:spcAft>
                <a:spcPts val="1800"/>
              </a:spcAft>
              <a:defRPr sz="2400">
                <a:solidFill>
                  <a:srgbClr val="DCDCE6"/>
                </a:solidFill>
              </a:defRPr>
            </a:pPr>
            <a:r>
              <a:t>Audio Processing: Advanced audio analysis for transcribing and summarizing meeting recordings.</a:t>
            </a:r>
          </a:p>
          <a:p>
            <a:pPr>
              <a:spcAft>
                <a:spcPts val="1800"/>
              </a:spcAft>
              <a:defRPr sz="2400">
                <a:solidFill>
                  <a:srgbClr val="DCDCE6"/>
                </a:solidFill>
              </a:defRPr>
            </a:pPr>
            <a:r>
              <a:t>Complex Document Parsing: Reading messy, unstructured PDFs and extracting precise JSON data.</a:t>
            </a:r>
          </a:p>
          <a:p>
            <a:pPr>
              <a:spcAft>
                <a:spcPts val="1800"/>
              </a:spcAft>
              <a:defRPr sz="2400">
                <a:solidFill>
                  <a:srgbClr val="DCDCE6"/>
                </a:solidFill>
              </a:defRPr>
            </a:pPr>
            <a:r>
              <a:t>Holistic Understanding: Allowing the agent to see, hear, and read the entire business context.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457200"/>
            <a:ext cx="11277295" cy="914400"/>
          </a:xfrm>
          <a:prstGeom prst="rect">
            <a:avLst/>
          </a:prstGeom>
          <a:noFill/>
        </p:spPr>
        <p:txBody>
          <a:bodyPr wrap="none">
            <a:spAutoFit/>
          </a:bodyPr>
          <a:lstStyle/>
          <a:p>
            <a:pPr>
              <a:defRPr sz="4400" b="1">
                <a:solidFill>
                  <a:srgbClr val="00F0FF"/>
                </a:solidFill>
              </a:defRPr>
            </a:pPr>
            <a:r>
              <a:t>Conclusion &amp; Q&amp;A</a:t>
            </a:r>
          </a:p>
        </p:txBody>
      </p:sp>
      <p:sp>
        <p:nvSpPr>
          <p:cNvPr id="3" name="TextBox 2"/>
          <p:cNvSpPr txBox="1"/>
          <p:nvPr/>
        </p:nvSpPr>
        <p:spPr>
          <a:xfrm>
            <a:off x="457200" y="1371600"/>
            <a:ext cx="11277295" cy="457200"/>
          </a:xfrm>
          <a:prstGeom prst="rect">
            <a:avLst/>
          </a:prstGeom>
          <a:noFill/>
        </p:spPr>
        <p:txBody>
          <a:bodyPr wrap="none">
            <a:spAutoFit/>
          </a:bodyPr>
          <a:lstStyle/>
          <a:p>
            <a:pPr>
              <a:defRPr sz="1400" i="1">
                <a:solidFill>
                  <a:srgbClr val="969696"/>
                </a:solidFill>
              </a:defRPr>
            </a:pPr>
            <a:r>
              <a:t>[Suggested Visual: A powerful closing slide with the NexusAI logo, a "Thank You" message, and contact details/QR code for a live demo.]</a:t>
            </a:r>
          </a:p>
        </p:txBody>
      </p:sp>
      <p:sp>
        <p:nvSpPr>
          <p:cNvPr id="4" name="TextBox 3"/>
          <p:cNvSpPr txBox="1"/>
          <p:nvPr/>
        </p:nvSpPr>
        <p:spPr>
          <a:xfrm>
            <a:off x="457200" y="2011680"/>
            <a:ext cx="11277295" cy="4114800"/>
          </a:xfrm>
          <a:prstGeom prst="rect">
            <a:avLst/>
          </a:prstGeom>
          <a:noFill/>
        </p:spPr>
        <p:txBody>
          <a:bodyPr wrap="square">
            <a:spAutoFit/>
          </a:bodyPr>
          <a:lstStyle/>
          <a:p>
            <a:pPr>
              <a:spcAft>
                <a:spcPts val="1800"/>
              </a:spcAft>
              <a:defRPr sz="2400">
                <a:solidFill>
                  <a:srgbClr val="DCDCE6"/>
                </a:solidFill>
              </a:defRPr>
            </a:pPr>
            <a:r>
              <a:t>Recap: NexusAI redefines productivity by replacing reactive chatbots with proactive, multi-agent workflows.</a:t>
            </a:r>
          </a:p>
          <a:p>
            <a:pPr>
              <a:spcAft>
                <a:spcPts val="1800"/>
              </a:spcAft>
              <a:defRPr sz="2400">
                <a:solidFill>
                  <a:srgbClr val="DCDCE6"/>
                </a:solidFill>
              </a:defRPr>
            </a:pPr>
            <a:r>
              <a:t>The Vision: Empowering every professional with a tireless, hyper-intelligent executive assistant.</a:t>
            </a:r>
          </a:p>
          <a:p>
            <a:pPr>
              <a:spcAft>
                <a:spcPts val="1800"/>
              </a:spcAft>
              <a:defRPr sz="2400">
                <a:solidFill>
                  <a:srgbClr val="DCDCE6"/>
                </a:solidFill>
              </a:defRPr>
            </a:pPr>
            <a:r>
              <a:t>Call to Action: Experience the workspace of the future today.</a:t>
            </a:r>
          </a:p>
          <a:p>
            <a:pPr>
              <a:spcAft>
                <a:spcPts val="1800"/>
              </a:spcAft>
              <a:defRPr sz="2400">
                <a:solidFill>
                  <a:srgbClr val="DCDCE6"/>
                </a:solidFill>
              </a:defRPr>
            </a:pPr>
            <a:r>
              <a:t>Q&amp;A: Opening the floor for technical, architectural, or business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